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20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09287ADB-A5F9-4CD2-BC8A-4F15C51AE7C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CBC8462-9601-4790-A0FB-B2299DC99B5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430622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7ADB-A5F9-4CD2-BC8A-4F15C51AE7C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8462-9601-4790-A0FB-B2299DC9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757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7ADB-A5F9-4CD2-BC8A-4F15C51AE7C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8462-9601-4790-A0FB-B2299DC99B5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47056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7ADB-A5F9-4CD2-BC8A-4F15C51AE7C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8462-9601-4790-A0FB-B2299DC9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44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7ADB-A5F9-4CD2-BC8A-4F15C51AE7C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8462-9601-4790-A0FB-B2299DC9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190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7ADB-A5F9-4CD2-BC8A-4F15C51AE7C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8462-9601-4790-A0FB-B2299DC9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979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7ADB-A5F9-4CD2-BC8A-4F15C51AE7C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8462-9601-4790-A0FB-B2299DC9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8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7ADB-A5F9-4CD2-BC8A-4F15C51AE7C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8462-9601-4790-A0FB-B2299DC9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08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7ADB-A5F9-4CD2-BC8A-4F15C51AE7C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8462-9601-4790-A0FB-B2299DC9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00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7ADB-A5F9-4CD2-BC8A-4F15C51AE7C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8462-9601-4790-A0FB-B2299DC9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85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7ADB-A5F9-4CD2-BC8A-4F15C51AE7C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8462-9601-4790-A0FB-B2299DC9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79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9287ADB-A5F9-4CD2-BC8A-4F15C51AE7C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CBC8462-9601-4790-A0FB-B2299DC9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410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ADE32-1E9A-AE6C-8CC6-2F529C823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1028699"/>
            <a:ext cx="9418320" cy="3862083"/>
          </a:xfrm>
        </p:spPr>
        <p:txBody>
          <a:bodyPr anchor="ctr">
            <a:normAutofit/>
          </a:bodyPr>
          <a:lstStyle/>
          <a:p>
            <a:pPr algn="ctr"/>
            <a:r>
              <a:rPr lang="en-US" sz="6000"/>
              <a:t>Explainable Intent-Based Phishing Email Detection Using DistilBERT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F99300-F43A-E6EB-EF31-634036F0A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5237670"/>
            <a:ext cx="9418320" cy="1183261"/>
          </a:xfrm>
        </p:spPr>
        <p:txBody>
          <a:bodyPr>
            <a:normAutofit/>
          </a:bodyPr>
          <a:lstStyle/>
          <a:p>
            <a:pPr algn="ctr"/>
            <a:r>
              <a:rPr lang="en-US"/>
              <a:t>Mahi Khan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7E8ECA2-60A0-4D39-817D-F1E982ED7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51500" y="5097592"/>
            <a:ext cx="59639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195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A30C-8634-B5A0-F1F1-D35395C04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32" y="365760"/>
            <a:ext cx="5997678" cy="1325562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C2BF78-EE5B-49C7-ADD9-58CDBD13E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D0D4E-A5DC-6854-4584-2BE22F499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139" y="2005739"/>
            <a:ext cx="6015571" cy="4174398"/>
          </a:xfrm>
        </p:spPr>
        <p:txBody>
          <a:bodyPr>
            <a:normAutofit/>
          </a:bodyPr>
          <a:lstStyle/>
          <a:p>
            <a:r>
              <a:rPr lang="en-US"/>
              <a:t>The Problem</a:t>
            </a:r>
          </a:p>
          <a:p>
            <a:pPr lvl="1"/>
            <a:r>
              <a:rPr lang="en-US" dirty="0"/>
              <a:t>Phishing emails remain one of the most common cyber threats</a:t>
            </a:r>
          </a:p>
          <a:p>
            <a:pPr lvl="1"/>
            <a:r>
              <a:rPr lang="en-US" dirty="0"/>
              <a:t>Attackers exploit social engineering, not technical flaws</a:t>
            </a:r>
          </a:p>
          <a:p>
            <a:pPr lvl="1"/>
            <a:r>
              <a:rPr lang="en-US" dirty="0"/>
              <a:t>Traditional filters struggle with evolving language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/>
              <a:t>Key Challenge</a:t>
            </a:r>
          </a:p>
          <a:p>
            <a:pPr lvl="1"/>
            <a:r>
              <a:rPr lang="en-US" dirty="0"/>
              <a:t>Modern ML models are accurate but lack explainability</a:t>
            </a:r>
          </a:p>
          <a:p>
            <a:pPr lvl="1"/>
            <a:r>
              <a:rPr lang="en-US" dirty="0"/>
              <a:t>Security analysts need to know why an email is flagged</a:t>
            </a:r>
          </a:p>
          <a:p>
            <a:endParaRPr lang="en-US" dirty="0"/>
          </a:p>
        </p:txBody>
      </p:sp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B522D31F-9786-6F73-B917-6957E854B8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702" r="11131"/>
          <a:stretch>
            <a:fillRect/>
          </a:stretch>
        </p:blipFill>
        <p:spPr>
          <a:xfrm>
            <a:off x="7538689" y="10"/>
            <a:ext cx="465331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94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AE80D91-18AA-438F-BFF4-E6BABFDFB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928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05C5AB-8A34-4DF3-AB54-AD74AA432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4698" y="0"/>
            <a:ext cx="5188141" cy="686546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E5E8CF-0940-60A7-5F97-FE3C2DFB0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937" y="643466"/>
            <a:ext cx="3962658" cy="5376334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Background &amp; Research Paper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13436-8786-5A60-0E3D-F7CFEBED9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643467"/>
            <a:ext cx="4817766" cy="5578528"/>
          </a:xfrm>
        </p:spPr>
        <p:txBody>
          <a:bodyPr anchor="ctr">
            <a:normAutofit/>
          </a:bodyPr>
          <a:lstStyle/>
          <a:p>
            <a:r>
              <a:rPr lang="en-US"/>
              <a:t>Referenced Research Paper</a:t>
            </a:r>
          </a:p>
          <a:p>
            <a:pPr lvl="1"/>
            <a:r>
              <a:rPr lang="en-US"/>
              <a:t>LLM-Powered Intent-Based Categorization of Phishing Emails</a:t>
            </a:r>
          </a:p>
          <a:p>
            <a:pPr marL="457200" lvl="1" indent="0">
              <a:buNone/>
            </a:pPr>
            <a:endParaRPr lang="en-US"/>
          </a:p>
          <a:p>
            <a:r>
              <a:rPr lang="en-US"/>
              <a:t>What the Paper Does</a:t>
            </a:r>
          </a:p>
          <a:p>
            <a:pPr lvl="1"/>
            <a:r>
              <a:rPr lang="en-US"/>
              <a:t>Uses Large Language Models (LLMs)</a:t>
            </a:r>
          </a:p>
          <a:p>
            <a:pPr lvl="1"/>
            <a:r>
              <a:rPr lang="en-US"/>
              <a:t>Categorizes phishing emails by intent</a:t>
            </a:r>
          </a:p>
          <a:p>
            <a:pPr lvl="2"/>
            <a:r>
              <a:rPr lang="en-US"/>
              <a:t>Link</a:t>
            </a:r>
          </a:p>
          <a:p>
            <a:pPr lvl="2"/>
            <a:r>
              <a:rPr lang="en-US"/>
              <a:t>Attachment</a:t>
            </a:r>
          </a:p>
          <a:p>
            <a:pPr lvl="2"/>
            <a:r>
              <a:rPr lang="en-US"/>
              <a:t>Service</a:t>
            </a:r>
          </a:p>
          <a:p>
            <a:pPr lvl="1"/>
            <a:r>
              <a:rPr lang="en-US"/>
              <a:t>Generates natural-language explanations</a:t>
            </a:r>
          </a:p>
          <a:p>
            <a:pPr marL="457200" lvl="1" indent="0">
              <a:buNone/>
            </a:pPr>
            <a:endParaRPr lang="en-US"/>
          </a:p>
          <a:p>
            <a:r>
              <a:rPr lang="en-US"/>
              <a:t>Limitations</a:t>
            </a:r>
          </a:p>
          <a:p>
            <a:pPr lvl="1"/>
            <a:r>
              <a:rPr lang="en-US"/>
              <a:t>High computational cost</a:t>
            </a:r>
          </a:p>
          <a:p>
            <a:pPr lvl="1"/>
            <a:r>
              <a:rPr lang="en-US"/>
              <a:t>Non-deterministic outputs</a:t>
            </a:r>
          </a:p>
          <a:p>
            <a:pPr lvl="1"/>
            <a:r>
              <a:rPr lang="en-US"/>
              <a:t>Difficult to scale in production</a:t>
            </a:r>
          </a:p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3B856C-9196-4702-BED7-5733C7EAA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40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801627-6861-4EA9-BE98-E0CE33A89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43466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C1483F-490E-4C8A-8765-1F8AF0C67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0"/>
            <a:ext cx="3736189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0B25C-E83F-3880-5D80-0509538BD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8" y="643466"/>
            <a:ext cx="3092718" cy="5528734"/>
          </a:xfrm>
          <a:noFill/>
        </p:spPr>
        <p:txBody>
          <a:bodyPr anchor="t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Innovations in the Proposed Method</a:t>
            </a: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49BF42-D05C-4553-9417-7B8695759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9654" y="0"/>
            <a:ext cx="691318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E5F5F-C51C-3321-C5A6-913596CC0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898" y="643466"/>
            <a:ext cx="5827472" cy="5571067"/>
          </a:xfrm>
        </p:spPr>
        <p:txBody>
          <a:bodyPr>
            <a:normAutofit/>
          </a:bodyPr>
          <a:lstStyle/>
          <a:p>
            <a:r>
              <a:rPr lang="en-US" sz="1700"/>
              <a:t>Key Innovations</a:t>
            </a:r>
          </a:p>
          <a:p>
            <a:pPr lvl="1"/>
            <a:r>
              <a:rPr lang="en-US" sz="1700"/>
              <a:t>Uses DistilBERT instead of LLMs</a:t>
            </a:r>
          </a:p>
          <a:p>
            <a:pPr lvl="1"/>
            <a:r>
              <a:rPr lang="en-US" sz="1700"/>
              <a:t>Trained on 219,000+ real-world emails</a:t>
            </a:r>
          </a:p>
          <a:p>
            <a:pPr lvl="1"/>
            <a:r>
              <a:rPr lang="en-US" sz="1700"/>
              <a:t>Explicit two-stage pipeline:</a:t>
            </a:r>
          </a:p>
          <a:p>
            <a:pPr lvl="2"/>
            <a:r>
              <a:rPr lang="en-US" sz="1700"/>
              <a:t>Binary phishing detection</a:t>
            </a:r>
          </a:p>
          <a:p>
            <a:pPr lvl="2"/>
            <a:r>
              <a:rPr lang="en-US" sz="1700"/>
              <a:t>Intent classification</a:t>
            </a:r>
          </a:p>
          <a:p>
            <a:pPr lvl="2"/>
            <a:endParaRPr lang="en-US" sz="1700"/>
          </a:p>
          <a:p>
            <a:r>
              <a:rPr lang="en-US" sz="1700"/>
              <a:t>Explainability Improvements</a:t>
            </a:r>
          </a:p>
          <a:p>
            <a:pPr lvl="1"/>
            <a:r>
              <a:rPr lang="en-US" sz="1700"/>
              <a:t>Deterministic rule-based reasoning</a:t>
            </a:r>
          </a:p>
          <a:p>
            <a:pPr lvl="1"/>
            <a:r>
              <a:rPr lang="en-US" sz="1700"/>
              <a:t>Structured explanation tables</a:t>
            </a:r>
          </a:p>
          <a:p>
            <a:pPr lvl="1"/>
            <a:r>
              <a:rPr lang="en-US" sz="1700"/>
              <a:t>Visual indicators and charts</a:t>
            </a:r>
          </a:p>
          <a:p>
            <a:pPr marL="457200" lvl="1" indent="0">
              <a:buNone/>
            </a:pPr>
            <a:endParaRPr lang="en-US" sz="1700"/>
          </a:p>
          <a:p>
            <a:r>
              <a:rPr lang="en-US" sz="1700"/>
              <a:t>Why This Matters</a:t>
            </a:r>
          </a:p>
          <a:p>
            <a:pPr lvl="1"/>
            <a:r>
              <a:rPr lang="en-US" sz="1700"/>
              <a:t>Lower computational overhead</a:t>
            </a:r>
          </a:p>
          <a:p>
            <a:pPr lvl="1"/>
            <a:r>
              <a:rPr lang="en-US" sz="1700"/>
              <a:t>Reproducible explanations</a:t>
            </a:r>
          </a:p>
          <a:p>
            <a:pPr lvl="1"/>
            <a:r>
              <a:rPr lang="en-US" sz="1700"/>
              <a:t>Production-ready design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167056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801627-6861-4EA9-BE98-E0CE33A89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43466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C1483F-490E-4C8A-8765-1F8AF0C67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0"/>
            <a:ext cx="3736189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74E666-FAEF-6B21-2F3A-76DA693A5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8" y="643466"/>
            <a:ext cx="3092718" cy="5528734"/>
          </a:xfrm>
          <a:noFill/>
        </p:spPr>
        <p:txBody>
          <a:bodyPr anchor="t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Demo</a:t>
            </a: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49BF42-D05C-4553-9417-7B8695759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9654" y="0"/>
            <a:ext cx="691318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15E9C-6CAD-EFDA-BDD1-EB1C801E3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898" y="643466"/>
            <a:ext cx="5827472" cy="5571067"/>
          </a:xfrm>
        </p:spPr>
        <p:txBody>
          <a:bodyPr>
            <a:normAutofit/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49739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6F05DDE-5F2C-44F5-BACC-DED4737B1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3FC43A-F2E5-409E-8C82-7DC3B69EA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811"/>
            <a:ext cx="405908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EBFF7B-A218-4767-9A82-7ADFE8C9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7232906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5482D-6FCB-258D-1FFE-8ED0D74B3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4" y="539553"/>
            <a:ext cx="6196916" cy="5768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6000">
                <a:solidFill>
                  <a:srgbClr val="FFFFFF"/>
                </a:solidFill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936751303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9</TotalTime>
  <Words>156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Schoolbook</vt:lpstr>
      <vt:lpstr>Wingdings 2</vt:lpstr>
      <vt:lpstr>View</vt:lpstr>
      <vt:lpstr>Explainable Intent-Based Phishing Email Detection Using DistilBERT</vt:lpstr>
      <vt:lpstr>Problem Statement</vt:lpstr>
      <vt:lpstr>Background &amp; Research Paper Overview</vt:lpstr>
      <vt:lpstr>Innovations in the Proposed Method</vt:lpstr>
      <vt:lpstr>Demo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 Khan</dc:creator>
  <cp:lastModifiedBy>Mahi Khan</cp:lastModifiedBy>
  <cp:revision>3</cp:revision>
  <dcterms:created xsi:type="dcterms:W3CDTF">2025-12-17T04:40:29Z</dcterms:created>
  <dcterms:modified xsi:type="dcterms:W3CDTF">2025-12-17T04:50:12Z</dcterms:modified>
</cp:coreProperties>
</file>